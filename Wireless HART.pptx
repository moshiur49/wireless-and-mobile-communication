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Average"/>
      <p:regular r:id="rId16"/>
    </p:embeddedFont>
    <p:embeddedFont>
      <p:font typeface="Oswald"/>
      <p:regular r:id="rId17"/>
      <p:bold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Oswald-regular.fntdata"/><Relationship Id="rId16" Type="http://schemas.openxmlformats.org/officeDocument/2006/relationships/font" Target="fonts/Average-regular.fntdata"/><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font" Target="fonts/Oswald-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1f87997393_0_7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1f87997393_0_7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1f87997393_0_8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1f87997393_0_8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1f87997393_0_8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1f87997393_0_8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1f87997393_0_8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1f87997393_0_8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1f87997393_0_9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1f87997393_0_9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1f87997393_0_1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1f87997393_0_1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1f87997393_0_1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1f87997393_0_1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1f87997393_0_13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1f87997393_0_13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1f87997393_0_14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1f87997393_0_14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1f87997393_0_15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1f87997393_0_15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2"/>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p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lnSpc>
                <a:spcPct val="95000"/>
              </a:lnSpc>
              <a:spcBef>
                <a:spcPts val="0"/>
              </a:spcBef>
              <a:spcAft>
                <a:spcPts val="0"/>
              </a:spcAft>
              <a:buSzPts val="1800"/>
              <a:buChar char="●"/>
              <a:defRPr sz="2000">
                <a:latin typeface="Arial"/>
                <a:ea typeface="Arial"/>
                <a:cs typeface="Arial"/>
                <a:sym typeface="Arial"/>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8" name="Google Shape;38;p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452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5" name="Google Shape;45;p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p1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255275"/>
            <a:ext cx="8520600" cy="18906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C">
  <p:cSld name="SECTION_HEADER_1">
    <p:spTree>
      <p:nvGrpSpPr>
        <p:cNvPr id="55" name="Shape 55"/>
        <p:cNvGrpSpPr/>
        <p:nvPr/>
      </p:nvGrpSpPr>
      <p:grpSpPr>
        <a:xfrm>
          <a:off x="0" y="0"/>
          <a:ext cx="0" cy="0"/>
          <a:chOff x="0" y="0"/>
          <a:chExt cx="0" cy="0"/>
        </a:xfrm>
      </p:grpSpPr>
      <p:grpSp>
        <p:nvGrpSpPr>
          <p:cNvPr id="56" name="Google Shape;56;p13"/>
          <p:cNvGrpSpPr/>
          <p:nvPr/>
        </p:nvGrpSpPr>
        <p:grpSpPr>
          <a:xfrm>
            <a:off x="4406400" y="0"/>
            <a:ext cx="4737600" cy="5143065"/>
            <a:chOff x="4406400" y="0"/>
            <a:chExt cx="4737600" cy="5143065"/>
          </a:xfrm>
        </p:grpSpPr>
        <p:sp>
          <p:nvSpPr>
            <p:cNvPr id="57" name="Google Shape;57;p1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5" name="Google Shape;75;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76" name="Google Shape;76;p13"/>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_alt3">
  <p:cSld name="TITLE_AND_BODY_1">
    <p:spTree>
      <p:nvGrpSpPr>
        <p:cNvPr id="77" name="Shape 77"/>
        <p:cNvGrpSpPr/>
        <p:nvPr/>
      </p:nvGrpSpPr>
      <p:grpSpPr>
        <a:xfrm>
          <a:off x="0" y="0"/>
          <a:ext cx="0" cy="0"/>
          <a:chOff x="0" y="0"/>
          <a:chExt cx="0" cy="0"/>
        </a:xfrm>
      </p:grpSpPr>
      <p:pic>
        <p:nvPicPr>
          <p:cNvPr descr="offset_comp_343059.jpg" id="78" name="Google Shape;78;p14"/>
          <p:cNvPicPr preferRelativeResize="0"/>
          <p:nvPr/>
        </p:nvPicPr>
        <p:blipFill rotWithShape="1">
          <a:blip r:embed="rId2">
            <a:alphaModFix amt="80000"/>
          </a:blip>
          <a:srcRect b="25870" l="30474" r="30474" t="11955"/>
          <a:stretch/>
        </p:blipFill>
        <p:spPr>
          <a:xfrm rot="-5400000">
            <a:off x="113630" y="-105700"/>
            <a:ext cx="5142300" cy="5364300"/>
          </a:xfrm>
          <a:prstGeom prst="diagStripe">
            <a:avLst>
              <a:gd fmla="val 50343" name="adj"/>
            </a:avLst>
          </a:prstGeom>
          <a:noFill/>
          <a:ln>
            <a:noFill/>
          </a:ln>
        </p:spPr>
      </p:pic>
      <p:sp>
        <p:nvSpPr>
          <p:cNvPr id="79" name="Google Shape;79;p1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80" name="Google Shape;80;p14"/>
          <p:cNvSpPr txBox="1"/>
          <p:nvPr>
            <p:ph idx="1" type="body"/>
          </p:nvPr>
        </p:nvSpPr>
        <p:spPr>
          <a:xfrm>
            <a:off x="4018025" y="1567550"/>
            <a:ext cx="4318500" cy="17667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Clr>
                <a:schemeClr val="dk2"/>
              </a:buClr>
              <a:buSzPts val="1800"/>
              <a:buChar char="●"/>
              <a:defRPr>
                <a:solidFill>
                  <a:schemeClr val="dk2"/>
                </a:solidFill>
              </a:defRPr>
            </a:lvl1pPr>
            <a:lvl2pPr indent="-317500" lvl="1" marL="914400">
              <a:spcBef>
                <a:spcPts val="0"/>
              </a:spcBef>
              <a:spcAft>
                <a:spcPts val="0"/>
              </a:spcAft>
              <a:buClr>
                <a:schemeClr val="dk2"/>
              </a:buClr>
              <a:buSzPts val="1400"/>
              <a:buChar char="○"/>
              <a:defRPr>
                <a:solidFill>
                  <a:schemeClr val="dk2"/>
                </a:solidFill>
              </a:defRPr>
            </a:lvl2pPr>
            <a:lvl3pPr indent="-317500" lvl="2" marL="1371600">
              <a:spcBef>
                <a:spcPts val="0"/>
              </a:spcBef>
              <a:spcAft>
                <a:spcPts val="0"/>
              </a:spcAft>
              <a:buClr>
                <a:schemeClr val="dk2"/>
              </a:buClr>
              <a:buSzPts val="1400"/>
              <a:buChar char="■"/>
              <a:defRPr>
                <a:solidFill>
                  <a:schemeClr val="dk2"/>
                </a:solidFill>
              </a:defRPr>
            </a:lvl3pPr>
            <a:lvl4pPr indent="-317500" lvl="3" marL="1828800">
              <a:spcBef>
                <a:spcPts val="0"/>
              </a:spcBef>
              <a:spcAft>
                <a:spcPts val="0"/>
              </a:spcAft>
              <a:buClr>
                <a:schemeClr val="dk2"/>
              </a:buClr>
              <a:buSzPts val="1400"/>
              <a:buChar char="●"/>
              <a:defRPr>
                <a:solidFill>
                  <a:schemeClr val="dk2"/>
                </a:solidFill>
              </a:defRPr>
            </a:lvl4pPr>
            <a:lvl5pPr indent="-317500" lvl="4" marL="2286000">
              <a:spcBef>
                <a:spcPts val="0"/>
              </a:spcBef>
              <a:spcAft>
                <a:spcPts val="0"/>
              </a:spcAft>
              <a:buClr>
                <a:schemeClr val="dk2"/>
              </a:buClr>
              <a:buSzPts val="1400"/>
              <a:buChar char="○"/>
              <a:defRPr>
                <a:solidFill>
                  <a:schemeClr val="dk2"/>
                </a:solidFill>
              </a:defRPr>
            </a:lvl5pPr>
            <a:lvl6pPr indent="-317500" lvl="5" marL="2743200">
              <a:spcBef>
                <a:spcPts val="0"/>
              </a:spcBef>
              <a:spcAft>
                <a:spcPts val="0"/>
              </a:spcAft>
              <a:buClr>
                <a:schemeClr val="dk2"/>
              </a:buClr>
              <a:buSzPts val="1400"/>
              <a:buChar char="■"/>
              <a:defRPr>
                <a:solidFill>
                  <a:schemeClr val="dk2"/>
                </a:solidFill>
              </a:defRPr>
            </a:lvl6pPr>
            <a:lvl7pPr indent="-317500" lvl="6" marL="3200400">
              <a:spcBef>
                <a:spcPts val="0"/>
              </a:spcBef>
              <a:spcAft>
                <a:spcPts val="0"/>
              </a:spcAft>
              <a:buClr>
                <a:schemeClr val="dk2"/>
              </a:buClr>
              <a:buSzPts val="1400"/>
              <a:buChar char="●"/>
              <a:defRPr>
                <a:solidFill>
                  <a:schemeClr val="dk2"/>
                </a:solidFill>
              </a:defRPr>
            </a:lvl7pPr>
            <a:lvl8pPr indent="-317500" lvl="7" marL="3657600">
              <a:spcBef>
                <a:spcPts val="0"/>
              </a:spcBef>
              <a:spcAft>
                <a:spcPts val="0"/>
              </a:spcAft>
              <a:buClr>
                <a:schemeClr val="dk2"/>
              </a:buClr>
              <a:buSzPts val="1400"/>
              <a:buChar char="○"/>
              <a:defRPr>
                <a:solidFill>
                  <a:schemeClr val="dk2"/>
                </a:solidFill>
              </a:defRPr>
            </a:lvl8pPr>
            <a:lvl9pPr indent="-317500" lvl="8" marL="4114800">
              <a:spcBef>
                <a:spcPts val="0"/>
              </a:spcBef>
              <a:spcAft>
                <a:spcPts val="0"/>
              </a:spcAft>
              <a:buClr>
                <a:schemeClr val="dk2"/>
              </a:buClr>
              <a:buSzPts val="1400"/>
              <a:buChar char="■"/>
              <a:defRPr>
                <a:solidFill>
                  <a:schemeClr val="dk2"/>
                </a:solidFill>
              </a:defRPr>
            </a:lvl9pPr>
          </a:lstStyle>
          <a:p/>
        </p:txBody>
      </p:sp>
      <p:sp>
        <p:nvSpPr>
          <p:cNvPr id="81" name="Google Shape;81;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82" name="Google Shape;82;p14">
            <a:hlinkClick/>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4">
            <a:hlinkClick/>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4">
            <a:hlinkClick/>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4">
            <a:hlinkClick/>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6" name="Google Shape;86;p14"/>
          <p:cNvGrpSpPr/>
          <p:nvPr/>
        </p:nvGrpSpPr>
        <p:grpSpPr>
          <a:xfrm>
            <a:off x="0" y="381001"/>
            <a:ext cx="1037850" cy="1016287"/>
            <a:chOff x="0" y="381001"/>
            <a:chExt cx="1037850" cy="1016287"/>
          </a:xfrm>
        </p:grpSpPr>
        <p:sp>
          <p:nvSpPr>
            <p:cNvPr id="87" name="Google Shape;87;p1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_alt1">
  <p:cSld name="TITLE_AND_BODY_2">
    <p:spTree>
      <p:nvGrpSpPr>
        <p:cNvPr id="89" name="Shape 89"/>
        <p:cNvGrpSpPr/>
        <p:nvPr/>
      </p:nvGrpSpPr>
      <p:grpSpPr>
        <a:xfrm>
          <a:off x="0" y="0"/>
          <a:ext cx="0" cy="0"/>
          <a:chOff x="0" y="0"/>
          <a:chExt cx="0" cy="0"/>
        </a:xfrm>
      </p:grpSpPr>
      <p:sp>
        <p:nvSpPr>
          <p:cNvPr id="90" name="Google Shape;90;p15"/>
          <p:cNvSpPr txBox="1"/>
          <p:nvPr>
            <p:ph type="title"/>
          </p:nvPr>
        </p:nvSpPr>
        <p:spPr>
          <a:xfrm>
            <a:off x="361071" y="1924852"/>
            <a:ext cx="2304900" cy="1797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91" name="Google Shape;91;p15"/>
          <p:cNvSpPr/>
          <p:nvPr/>
        </p:nvSpPr>
        <p:spPr>
          <a:xfrm>
            <a:off x="4564200" y="0"/>
            <a:ext cx="45798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5"/>
          <p:cNvSpPr txBox="1"/>
          <p:nvPr>
            <p:ph idx="1" type="body"/>
          </p:nvPr>
        </p:nvSpPr>
        <p:spPr>
          <a:xfrm>
            <a:off x="6451271" y="1924850"/>
            <a:ext cx="2304900" cy="1797300"/>
          </a:xfrm>
          <a:prstGeom prst="rect">
            <a:avLst/>
          </a:prstGeom>
        </p:spPr>
        <p:txBody>
          <a:bodyPr anchorCtr="0" anchor="t" bIns="91425" lIns="91425" spcFirstLastPara="1" rIns="91425" wrap="square" tIns="91425">
            <a:normAutofit/>
          </a:bodyPr>
          <a:lstStyle>
            <a:lvl1pPr indent="-298450" lvl="0" marL="457200">
              <a:spcBef>
                <a:spcPts val="0"/>
              </a:spcBef>
              <a:spcAft>
                <a:spcPts val="0"/>
              </a:spcAft>
              <a:buClr>
                <a:schemeClr val="dk1"/>
              </a:buClr>
              <a:buSzPts val="1100"/>
              <a:buChar char="●"/>
              <a:defRPr sz="1100">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93" name="Google Shape;93;p15">
            <a:hlinkClick/>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5">
            <a:hlinkClick/>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5">
            <a:hlinkClick/>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5">
            <a:hlinkClick/>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7" name="Google Shape;97;p15"/>
          <p:cNvGrpSpPr/>
          <p:nvPr/>
        </p:nvGrpSpPr>
        <p:grpSpPr>
          <a:xfrm>
            <a:off x="0" y="381001"/>
            <a:ext cx="1037850" cy="1016287"/>
            <a:chOff x="0" y="381001"/>
            <a:chExt cx="1037850" cy="1016287"/>
          </a:xfrm>
        </p:grpSpPr>
        <p:sp>
          <p:nvSpPr>
            <p:cNvPr id="98" name="Google Shape;98;p1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0" name="Google Shape;100;p15"/>
          <p:cNvSpPr txBox="1"/>
          <p:nvPr>
            <p:ph idx="2" type="title"/>
          </p:nvPr>
        </p:nvSpPr>
        <p:spPr>
          <a:xfrm>
            <a:off x="1297500" y="459490"/>
            <a:ext cx="3005700" cy="510900"/>
          </a:xfrm>
          <a:prstGeom prst="rect">
            <a:avLst/>
          </a:prstGeom>
        </p:spPr>
        <p:txBody>
          <a:bodyPr anchorCtr="0" anchor="t" bIns="91425" lIns="91425" spcFirstLastPara="1" rIns="91425" wrap="square" tIns="91425">
            <a:norm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101" name="Google Shape;101;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_alt2">
  <p:cSld name="TITLE_AND_BODY_2_1">
    <p:spTree>
      <p:nvGrpSpPr>
        <p:cNvPr id="102" name="Shape 102"/>
        <p:cNvGrpSpPr/>
        <p:nvPr/>
      </p:nvGrpSpPr>
      <p:grpSpPr>
        <a:xfrm>
          <a:off x="0" y="0"/>
          <a:ext cx="0" cy="0"/>
          <a:chOff x="0" y="0"/>
          <a:chExt cx="0" cy="0"/>
        </a:xfrm>
      </p:grpSpPr>
      <p:sp>
        <p:nvSpPr>
          <p:cNvPr id="103" name="Google Shape;103;p16"/>
          <p:cNvSpPr txBox="1"/>
          <p:nvPr>
            <p:ph type="title"/>
          </p:nvPr>
        </p:nvSpPr>
        <p:spPr>
          <a:xfrm>
            <a:off x="702850" y="1708619"/>
            <a:ext cx="3333300" cy="14709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04" name="Google Shape;104;p16"/>
          <p:cNvSpPr/>
          <p:nvPr/>
        </p:nvSpPr>
        <p:spPr>
          <a:xfrm>
            <a:off x="0" y="3486600"/>
            <a:ext cx="9144000" cy="165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6">
            <a:hlinkClick/>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6">
            <a:hlinkClick/>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6">
            <a:hlinkClick/>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6">
            <a:hlinkClick/>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9" name="Google Shape;109;p16"/>
          <p:cNvGrpSpPr/>
          <p:nvPr/>
        </p:nvGrpSpPr>
        <p:grpSpPr>
          <a:xfrm>
            <a:off x="0" y="381001"/>
            <a:ext cx="1037850" cy="1016287"/>
            <a:chOff x="0" y="381001"/>
            <a:chExt cx="1037850" cy="1016287"/>
          </a:xfrm>
        </p:grpSpPr>
        <p:sp>
          <p:nvSpPr>
            <p:cNvPr id="110" name="Google Shape;110;p1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2" name="Google Shape;112;p16"/>
          <p:cNvSpPr txBox="1"/>
          <p:nvPr>
            <p:ph idx="2" type="title"/>
          </p:nvPr>
        </p:nvSpPr>
        <p:spPr>
          <a:xfrm>
            <a:off x="1297500" y="459490"/>
            <a:ext cx="3005700" cy="510900"/>
          </a:xfrm>
          <a:prstGeom prst="rect">
            <a:avLst/>
          </a:prstGeom>
        </p:spPr>
        <p:txBody>
          <a:bodyPr anchorCtr="0" anchor="t" bIns="91425" lIns="91425" spcFirstLastPara="1" rIns="91425" wrap="square" tIns="91425">
            <a:norm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113" name="Google Shape;113;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114" name="Google Shape;114;p16"/>
          <p:cNvSpPr txBox="1"/>
          <p:nvPr>
            <p:ph idx="1" type="body"/>
          </p:nvPr>
        </p:nvSpPr>
        <p:spPr>
          <a:xfrm>
            <a:off x="702850" y="3625275"/>
            <a:ext cx="3333300" cy="765300"/>
          </a:xfrm>
          <a:prstGeom prst="rect">
            <a:avLst/>
          </a:prstGeom>
        </p:spPr>
        <p:txBody>
          <a:bodyPr anchorCtr="0" anchor="t" bIns="91425" lIns="91425" spcFirstLastPara="1" rIns="91425" wrap="square" tIns="91425">
            <a:normAutofit/>
          </a:bodyPr>
          <a:lstStyle>
            <a:lvl1pPr indent="-298450" lvl="0" marL="457200">
              <a:spcBef>
                <a:spcPts val="0"/>
              </a:spcBef>
              <a:spcAft>
                <a:spcPts val="0"/>
              </a:spcAft>
              <a:buClr>
                <a:schemeClr val="dk1"/>
              </a:buClr>
              <a:buSzPts val="1100"/>
              <a:buChar char="●"/>
              <a:defRPr sz="1100">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7"/>
          <p:cNvSpPr txBox="1"/>
          <p:nvPr>
            <p:ph type="title"/>
          </p:nvPr>
        </p:nvSpPr>
        <p:spPr>
          <a:xfrm>
            <a:off x="4769225" y="354175"/>
            <a:ext cx="4121400" cy="8115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GB"/>
              <a:t>Wireless HART: A Wireless Protocol for Industrial Automation</a:t>
            </a:r>
            <a:endParaRPr/>
          </a:p>
        </p:txBody>
      </p:sp>
      <p:sp>
        <p:nvSpPr>
          <p:cNvPr id="120" name="Google Shape;120;p17"/>
          <p:cNvSpPr txBox="1"/>
          <p:nvPr/>
        </p:nvSpPr>
        <p:spPr>
          <a:xfrm>
            <a:off x="4928225" y="1450600"/>
            <a:ext cx="3599400" cy="100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solidFill>
                  <a:schemeClr val="accent3"/>
                </a:solidFill>
                <a:latin typeface="Average"/>
                <a:ea typeface="Average"/>
                <a:cs typeface="Average"/>
                <a:sym typeface="Average"/>
              </a:rPr>
              <a:t>PRESENTED BY : </a:t>
            </a:r>
            <a:endParaRPr i="1" sz="1800">
              <a:solidFill>
                <a:schemeClr val="accent3"/>
              </a:solidFill>
              <a:latin typeface="Average"/>
              <a:ea typeface="Average"/>
              <a:cs typeface="Average"/>
              <a:sym typeface="Average"/>
            </a:endParaRPr>
          </a:p>
          <a:p>
            <a:pPr indent="0" lvl="0" marL="0" rtl="0" algn="l">
              <a:spcBef>
                <a:spcPts val="0"/>
              </a:spcBef>
              <a:spcAft>
                <a:spcPts val="0"/>
              </a:spcAft>
              <a:buNone/>
            </a:pPr>
            <a:r>
              <a:rPr lang="en-GB" sz="1800">
                <a:solidFill>
                  <a:schemeClr val="accent3"/>
                </a:solidFill>
                <a:latin typeface="Average"/>
                <a:ea typeface="Average"/>
                <a:cs typeface="Average"/>
                <a:sym typeface="Average"/>
              </a:rPr>
              <a:t>                 </a:t>
            </a:r>
            <a:r>
              <a:rPr lang="en-GB" sz="1800">
                <a:solidFill>
                  <a:schemeClr val="accent3"/>
                </a:solidFill>
              </a:rPr>
              <a:t> MOSHIUR RAHMAN</a:t>
            </a:r>
            <a:endParaRPr sz="1800">
              <a:solidFill>
                <a:schemeClr val="accent3"/>
              </a:solidFill>
            </a:endParaRPr>
          </a:p>
          <a:p>
            <a:pPr indent="0" lvl="0" marL="0" rtl="0" algn="l">
              <a:spcBef>
                <a:spcPts val="0"/>
              </a:spcBef>
              <a:spcAft>
                <a:spcPts val="0"/>
              </a:spcAft>
              <a:buNone/>
            </a:pPr>
            <a:r>
              <a:rPr lang="en-GB" sz="1800">
                <a:solidFill>
                  <a:schemeClr val="accent3"/>
                </a:solidFill>
              </a:rPr>
              <a:t>                 ID: IT21049</a:t>
            </a:r>
            <a:endParaRPr sz="1800">
              <a:solidFill>
                <a:schemeClr val="accent3"/>
              </a:solidFill>
            </a:endParaRPr>
          </a:p>
        </p:txBody>
      </p:sp>
      <p:sp>
        <p:nvSpPr>
          <p:cNvPr id="121" name="Google Shape;121;p17"/>
          <p:cNvSpPr txBox="1"/>
          <p:nvPr/>
        </p:nvSpPr>
        <p:spPr>
          <a:xfrm>
            <a:off x="4928225" y="2571750"/>
            <a:ext cx="3803400" cy="13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solidFill>
                  <a:schemeClr val="accent3"/>
                </a:solidFill>
                <a:latin typeface="Average"/>
                <a:ea typeface="Average"/>
                <a:cs typeface="Average"/>
                <a:sym typeface="Average"/>
              </a:rPr>
              <a:t>SUPERVISED BY:</a:t>
            </a:r>
            <a:endParaRPr i="1" sz="1800">
              <a:solidFill>
                <a:schemeClr val="accent3"/>
              </a:solidFill>
              <a:latin typeface="Average"/>
              <a:ea typeface="Average"/>
              <a:cs typeface="Average"/>
              <a:sym typeface="Average"/>
            </a:endParaRPr>
          </a:p>
          <a:p>
            <a:pPr indent="0" lvl="0" marL="0" rtl="0" algn="l">
              <a:spcBef>
                <a:spcPts val="0"/>
              </a:spcBef>
              <a:spcAft>
                <a:spcPts val="0"/>
              </a:spcAft>
              <a:buNone/>
            </a:pPr>
            <a:r>
              <a:rPr i="1" lang="en-GB" sz="1900">
                <a:solidFill>
                  <a:schemeClr val="accent3"/>
                </a:solidFill>
                <a:latin typeface="Average"/>
                <a:ea typeface="Average"/>
                <a:cs typeface="Average"/>
                <a:sym typeface="Average"/>
              </a:rPr>
              <a:t>                 </a:t>
            </a:r>
            <a:r>
              <a:rPr lang="en-GB" sz="1900">
                <a:solidFill>
                  <a:schemeClr val="accent3"/>
                </a:solidFill>
              </a:rPr>
              <a:t>Dr. Nazrul Islam</a:t>
            </a:r>
            <a:endParaRPr sz="1900">
              <a:solidFill>
                <a:schemeClr val="accent3"/>
              </a:solidFill>
            </a:endParaRPr>
          </a:p>
          <a:p>
            <a:pPr indent="0" lvl="0" marL="0" rtl="0" algn="l">
              <a:spcBef>
                <a:spcPts val="0"/>
              </a:spcBef>
              <a:spcAft>
                <a:spcPts val="0"/>
              </a:spcAft>
              <a:buNone/>
            </a:pPr>
            <a:r>
              <a:rPr lang="en-GB" sz="1900">
                <a:solidFill>
                  <a:schemeClr val="accent3"/>
                </a:solidFill>
              </a:rPr>
              <a:t>               Associate professor</a:t>
            </a:r>
            <a:endParaRPr sz="1900">
              <a:solidFill>
                <a:schemeClr val="accent3"/>
              </a:solidFill>
            </a:endParaRPr>
          </a:p>
          <a:p>
            <a:pPr indent="0" lvl="0" marL="0" rtl="0" algn="l">
              <a:spcBef>
                <a:spcPts val="0"/>
              </a:spcBef>
              <a:spcAft>
                <a:spcPts val="0"/>
              </a:spcAft>
              <a:buNone/>
            </a:pPr>
            <a:r>
              <a:rPr lang="en-GB" sz="1700">
                <a:solidFill>
                  <a:schemeClr val="accent3"/>
                </a:solidFill>
              </a:rPr>
              <a:t>                 DEPT. OF ICT, MBSTU</a:t>
            </a:r>
            <a:endParaRPr sz="1700">
              <a:solidFill>
                <a:schemeClr val="accent3"/>
              </a:solidFill>
            </a:endParaRPr>
          </a:p>
        </p:txBody>
      </p:sp>
      <p:pic>
        <p:nvPicPr>
          <p:cNvPr id="122" name="Google Shape;122;p17"/>
          <p:cNvPicPr preferRelativeResize="0"/>
          <p:nvPr/>
        </p:nvPicPr>
        <p:blipFill>
          <a:blip r:embed="rId3">
            <a:alphaModFix/>
          </a:blip>
          <a:stretch>
            <a:fillRect/>
          </a:stretch>
        </p:blipFill>
        <p:spPr>
          <a:xfrm>
            <a:off x="0" y="0"/>
            <a:ext cx="4685918"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8"/>
          <p:cNvSpPr txBox="1"/>
          <p:nvPr>
            <p:ph type="title"/>
          </p:nvPr>
        </p:nvSpPr>
        <p:spPr>
          <a:xfrm>
            <a:off x="241500" y="325400"/>
            <a:ext cx="8590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INTRODUCTION</a:t>
            </a:r>
            <a:endParaRPr b="1"/>
          </a:p>
        </p:txBody>
      </p:sp>
      <p:sp>
        <p:nvSpPr>
          <p:cNvPr id="128" name="Google Shape;128;p18"/>
          <p:cNvSpPr txBox="1"/>
          <p:nvPr>
            <p:ph idx="1" type="body"/>
          </p:nvPr>
        </p:nvSpPr>
        <p:spPr>
          <a:xfrm>
            <a:off x="422700" y="1004425"/>
            <a:ext cx="85206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GB" sz="1900">
                <a:solidFill>
                  <a:schemeClr val="dk1"/>
                </a:solidFill>
              </a:rPr>
              <a:t>WirelessHART (Wireless Highway Addressable Remote Transducer) is an open-standard wireless communication protoco</a:t>
            </a:r>
            <a:r>
              <a:rPr b="1" lang="en-GB" sz="1900">
                <a:solidFill>
                  <a:schemeClr val="dk1"/>
                </a:solidFill>
              </a:rPr>
              <a:t>l</a:t>
            </a:r>
            <a:r>
              <a:rPr lang="en-GB" sz="1900">
                <a:solidFill>
                  <a:schemeClr val="dk1"/>
                </a:solidFill>
              </a:rPr>
              <a:t> designed specifically for industrial process automation and monitoring.Developed by the HART Communication Foundation in 2007, it is an extension of the wired HART protocol, maintaining backward compatibility while introducing wireless flexibility.</a:t>
            </a:r>
            <a:endParaRPr sz="1900">
              <a:solidFill>
                <a:schemeClr val="dk1"/>
              </a:solidFill>
            </a:endParaRPr>
          </a:p>
          <a:p>
            <a:pPr indent="0" lvl="0" marL="0" rtl="0" algn="l">
              <a:lnSpc>
                <a:spcPct val="115000"/>
              </a:lnSpc>
              <a:spcBef>
                <a:spcPts val="1200"/>
              </a:spcBef>
              <a:spcAft>
                <a:spcPts val="0"/>
              </a:spcAft>
              <a:buNone/>
            </a:pPr>
            <a:r>
              <a:rPr lang="en-GB" sz="1900">
                <a:solidFill>
                  <a:schemeClr val="dk1"/>
                </a:solidFill>
              </a:rPr>
              <a:t>WirelessHART enables secure, reliable, and real-time data exchange between field instruments, controllers, and control systems without the need for physical wiring — significantly reducing installation and maintenance costs.</a:t>
            </a:r>
            <a:endParaRPr sz="1900">
              <a:solidFill>
                <a:schemeClr val="dk1"/>
              </a:solidFill>
            </a:endParaRPr>
          </a:p>
          <a:p>
            <a:pPr indent="0" lvl="0" marL="0" rtl="0" algn="l">
              <a:spcBef>
                <a:spcPts val="1200"/>
              </a:spcBef>
              <a:spcAft>
                <a:spcPts val="0"/>
              </a:spcAft>
              <a:buNone/>
            </a:pPr>
            <a:r>
              <a:t/>
            </a:r>
            <a:endParaRPr b="1">
              <a:solidFill>
                <a:schemeClr val="dk1"/>
              </a:solidFill>
            </a:endParaRPr>
          </a:p>
          <a:p>
            <a:pPr indent="0" lvl="0" marL="0" rtl="0" algn="l">
              <a:spcBef>
                <a:spcPts val="1200"/>
              </a:spcBef>
              <a:spcAft>
                <a:spcPts val="0"/>
              </a:spcAft>
              <a:buSzPts val="852"/>
              <a:buNone/>
            </a:pPr>
            <a:r>
              <a:t/>
            </a:r>
            <a:endParaRPr>
              <a:solidFill>
                <a:srgbClr val="000000"/>
              </a:solidFill>
              <a:highlight>
                <a:schemeClr val="dk1"/>
              </a:highlight>
            </a:endParaRPr>
          </a:p>
          <a:p>
            <a:pPr indent="0" lvl="0" marL="0" rtl="0" algn="l">
              <a:spcBef>
                <a:spcPts val="1200"/>
              </a:spcBef>
              <a:spcAft>
                <a:spcPts val="1200"/>
              </a:spcAft>
              <a:buSzPts val="852"/>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9"/>
          <p:cNvSpPr txBox="1"/>
          <p:nvPr>
            <p:ph type="title"/>
          </p:nvPr>
        </p:nvSpPr>
        <p:spPr>
          <a:xfrm>
            <a:off x="395775" y="378300"/>
            <a:ext cx="5247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Technical Overview</a:t>
            </a:r>
            <a:endParaRPr b="1"/>
          </a:p>
        </p:txBody>
      </p:sp>
      <p:sp>
        <p:nvSpPr>
          <p:cNvPr id="134" name="Google Shape;134;p19"/>
          <p:cNvSpPr txBox="1"/>
          <p:nvPr/>
        </p:nvSpPr>
        <p:spPr>
          <a:xfrm>
            <a:off x="668525" y="1053350"/>
            <a:ext cx="7650300" cy="3615300"/>
          </a:xfrm>
          <a:prstGeom prst="rect">
            <a:avLst/>
          </a:prstGeom>
          <a:noFill/>
          <a:ln>
            <a:noFill/>
          </a:ln>
        </p:spPr>
        <p:txBody>
          <a:bodyPr anchorCtr="0" anchor="t" bIns="91425" lIns="91425" spcFirstLastPara="1" rIns="91425" wrap="square" tIns="91425">
            <a:noAutofit/>
          </a:bodyPr>
          <a:lstStyle/>
          <a:p>
            <a:pPr indent="-349250" lvl="0" marL="457200" rtl="0" algn="l">
              <a:lnSpc>
                <a:spcPct val="115000"/>
              </a:lnSpc>
              <a:spcBef>
                <a:spcPts val="1200"/>
              </a:spcBef>
              <a:spcAft>
                <a:spcPts val="0"/>
              </a:spcAft>
              <a:buClr>
                <a:schemeClr val="dk1"/>
              </a:buClr>
              <a:buSzPts val="1900"/>
              <a:buChar char="●"/>
            </a:pPr>
            <a:r>
              <a:rPr b="1" lang="en-GB" sz="1900">
                <a:solidFill>
                  <a:schemeClr val="dk1"/>
                </a:solidFill>
              </a:rPr>
              <a:t>Communication Standard:</a:t>
            </a:r>
            <a:r>
              <a:rPr lang="en-GB" sz="1900">
                <a:solidFill>
                  <a:schemeClr val="dk1"/>
                </a:solidFill>
              </a:rPr>
              <a:t> IEEE 802.15.4 (2.4 GHz ISM Band)</a:t>
            </a:r>
            <a:endParaRPr sz="1900">
              <a:solidFill>
                <a:schemeClr val="dk1"/>
              </a:solidFill>
            </a:endParaRPr>
          </a:p>
          <a:p>
            <a:pPr indent="-349250" lvl="0" marL="457200" rtl="0" algn="l">
              <a:lnSpc>
                <a:spcPct val="115000"/>
              </a:lnSpc>
              <a:spcBef>
                <a:spcPts val="0"/>
              </a:spcBef>
              <a:spcAft>
                <a:spcPts val="0"/>
              </a:spcAft>
              <a:buClr>
                <a:schemeClr val="dk1"/>
              </a:buClr>
              <a:buSzPts val="1900"/>
              <a:buChar char="●"/>
            </a:pPr>
            <a:r>
              <a:rPr b="1" lang="en-GB" sz="1900">
                <a:solidFill>
                  <a:schemeClr val="dk1"/>
                </a:solidFill>
              </a:rPr>
              <a:t>Network Type:</a:t>
            </a:r>
            <a:r>
              <a:rPr lang="en-GB" sz="1900">
                <a:solidFill>
                  <a:schemeClr val="dk1"/>
                </a:solidFill>
              </a:rPr>
              <a:t> Self-organizing mesh topology</a:t>
            </a:r>
            <a:endParaRPr sz="1900">
              <a:solidFill>
                <a:schemeClr val="dk1"/>
              </a:solidFill>
            </a:endParaRPr>
          </a:p>
          <a:p>
            <a:pPr indent="-349250" lvl="0" marL="457200" rtl="0" algn="l">
              <a:lnSpc>
                <a:spcPct val="115000"/>
              </a:lnSpc>
              <a:spcBef>
                <a:spcPts val="0"/>
              </a:spcBef>
              <a:spcAft>
                <a:spcPts val="0"/>
              </a:spcAft>
              <a:buClr>
                <a:schemeClr val="dk1"/>
              </a:buClr>
              <a:buSzPts val="1900"/>
              <a:buChar char="●"/>
            </a:pPr>
            <a:r>
              <a:rPr b="1" lang="en-GB" sz="1900">
                <a:solidFill>
                  <a:schemeClr val="dk1"/>
                </a:solidFill>
              </a:rPr>
              <a:t>Data Rate:</a:t>
            </a:r>
            <a:r>
              <a:rPr lang="en-GB" sz="1900">
                <a:solidFill>
                  <a:schemeClr val="dk1"/>
                </a:solidFill>
              </a:rPr>
              <a:t> 250 kbps</a:t>
            </a:r>
            <a:endParaRPr sz="1900">
              <a:solidFill>
                <a:schemeClr val="dk1"/>
              </a:solidFill>
            </a:endParaRPr>
          </a:p>
          <a:p>
            <a:pPr indent="-349250" lvl="0" marL="457200" rtl="0" algn="l">
              <a:lnSpc>
                <a:spcPct val="115000"/>
              </a:lnSpc>
              <a:spcBef>
                <a:spcPts val="0"/>
              </a:spcBef>
              <a:spcAft>
                <a:spcPts val="0"/>
              </a:spcAft>
              <a:buClr>
                <a:schemeClr val="dk1"/>
              </a:buClr>
              <a:buSzPts val="1900"/>
              <a:buChar char="●"/>
            </a:pPr>
            <a:r>
              <a:rPr b="1" lang="en-GB" sz="1900">
                <a:solidFill>
                  <a:schemeClr val="dk1"/>
                </a:solidFill>
              </a:rPr>
              <a:t>Channel Hopping:</a:t>
            </a:r>
            <a:r>
              <a:rPr lang="en-GB" sz="1900">
                <a:solidFill>
                  <a:schemeClr val="dk1"/>
                </a:solidFill>
              </a:rPr>
              <a:t> Frequency-hopping spread spectrum (FHSS) to avoid interference</a:t>
            </a:r>
            <a:endParaRPr sz="1900">
              <a:solidFill>
                <a:schemeClr val="dk1"/>
              </a:solidFill>
            </a:endParaRPr>
          </a:p>
          <a:p>
            <a:pPr indent="-349250" lvl="0" marL="457200" rtl="0" algn="l">
              <a:lnSpc>
                <a:spcPct val="115000"/>
              </a:lnSpc>
              <a:spcBef>
                <a:spcPts val="0"/>
              </a:spcBef>
              <a:spcAft>
                <a:spcPts val="0"/>
              </a:spcAft>
              <a:buClr>
                <a:schemeClr val="dk1"/>
              </a:buClr>
              <a:buSzPts val="1900"/>
              <a:buChar char="●"/>
            </a:pPr>
            <a:r>
              <a:rPr b="1" lang="en-GB" sz="1900">
                <a:solidFill>
                  <a:schemeClr val="dk1"/>
                </a:solidFill>
              </a:rPr>
              <a:t>Network Synchronization:</a:t>
            </a:r>
            <a:r>
              <a:rPr lang="en-GB" sz="1900">
                <a:solidFill>
                  <a:schemeClr val="dk1"/>
                </a:solidFill>
              </a:rPr>
              <a:t> Time Division Multiple Access (</a:t>
            </a:r>
            <a:r>
              <a:rPr b="1" lang="en-GB" sz="1900">
                <a:solidFill>
                  <a:schemeClr val="dk1"/>
                </a:solidFill>
              </a:rPr>
              <a:t>TDMA</a:t>
            </a:r>
            <a:r>
              <a:rPr lang="en-GB" sz="1900">
                <a:solidFill>
                  <a:schemeClr val="dk1"/>
                </a:solidFill>
              </a:rPr>
              <a:t>) for efficient scheduling</a:t>
            </a:r>
            <a:endParaRPr sz="1900">
              <a:solidFill>
                <a:schemeClr val="dk1"/>
              </a:solidFill>
            </a:endParaRPr>
          </a:p>
          <a:p>
            <a:pPr indent="-342900" lvl="0" marL="457200" rtl="0" algn="l">
              <a:lnSpc>
                <a:spcPct val="115000"/>
              </a:lnSpc>
              <a:spcBef>
                <a:spcPts val="0"/>
              </a:spcBef>
              <a:spcAft>
                <a:spcPts val="0"/>
              </a:spcAft>
              <a:buClr>
                <a:schemeClr val="dk1"/>
              </a:buClr>
              <a:buSzPts val="1800"/>
              <a:buChar char="●"/>
            </a:pPr>
            <a:r>
              <a:rPr b="1" lang="en-GB" sz="1900">
                <a:solidFill>
                  <a:schemeClr val="dk1"/>
                </a:solidFill>
              </a:rPr>
              <a:t>Security:</a:t>
            </a:r>
            <a:r>
              <a:rPr lang="en-GB" sz="1900">
                <a:solidFill>
                  <a:schemeClr val="dk1"/>
                </a:solidFill>
              </a:rPr>
              <a:t> 128-bit AES encryption, device authentication, and integrity checks</a:t>
            </a:r>
            <a:br>
              <a:rPr lang="en-GB" sz="1800"/>
            </a:br>
            <a:endParaRPr sz="1800">
              <a:solidFill>
                <a:schemeClr val="dk1"/>
              </a:solidFill>
              <a:latin typeface="Average"/>
              <a:ea typeface="Average"/>
              <a:cs typeface="Average"/>
              <a:sym typeface="Average"/>
            </a:endParaRPr>
          </a:p>
          <a:p>
            <a:pPr indent="0" lvl="0" marL="0" rtl="0" algn="l">
              <a:spcBef>
                <a:spcPts val="1200"/>
              </a:spcBef>
              <a:spcAft>
                <a:spcPts val="0"/>
              </a:spcAft>
              <a:buNone/>
            </a:pPr>
            <a:r>
              <a:t/>
            </a:r>
            <a:endParaRPr sz="1800">
              <a:solidFill>
                <a:schemeClr val="accent3"/>
              </a:solidFill>
              <a:latin typeface="Average"/>
              <a:ea typeface="Average"/>
              <a:cs typeface="Average"/>
              <a:sym typeface="Averag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0"/>
          <p:cNvSpPr txBox="1"/>
          <p:nvPr>
            <p:ph type="title"/>
          </p:nvPr>
        </p:nvSpPr>
        <p:spPr>
          <a:xfrm>
            <a:off x="374150" y="395050"/>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None/>
            </a:pPr>
            <a:r>
              <a:rPr b="1" lang="en-GB">
                <a:latin typeface="Arial"/>
                <a:ea typeface="Arial"/>
                <a:cs typeface="Arial"/>
                <a:sym typeface="Arial"/>
              </a:rPr>
              <a:t>Main Components(...)</a:t>
            </a:r>
            <a:endParaRPr b="1">
              <a:latin typeface="Arial"/>
              <a:ea typeface="Arial"/>
              <a:cs typeface="Arial"/>
              <a:sym typeface="Arial"/>
            </a:endParaRPr>
          </a:p>
          <a:p>
            <a:pPr indent="0" lvl="0" marL="0" rtl="0" algn="l">
              <a:spcBef>
                <a:spcPts val="1200"/>
              </a:spcBef>
              <a:spcAft>
                <a:spcPts val="0"/>
              </a:spcAft>
              <a:buNone/>
            </a:pPr>
            <a:r>
              <a:t/>
            </a:r>
            <a:endParaRPr b="1" i="1" u="sng"/>
          </a:p>
        </p:txBody>
      </p:sp>
      <p:sp>
        <p:nvSpPr>
          <p:cNvPr id="140" name="Google Shape;140;p20"/>
          <p:cNvSpPr txBox="1"/>
          <p:nvPr>
            <p:ph idx="1" type="body"/>
          </p:nvPr>
        </p:nvSpPr>
        <p:spPr>
          <a:xfrm>
            <a:off x="601025" y="967750"/>
            <a:ext cx="8418000" cy="3872400"/>
          </a:xfrm>
          <a:prstGeom prst="rect">
            <a:avLst/>
          </a:prstGeom>
        </p:spPr>
        <p:txBody>
          <a:bodyPr anchorCtr="0" anchor="t" bIns="91425" lIns="91425" spcFirstLastPara="1" rIns="91425" wrap="square" tIns="91425">
            <a:noAutofit/>
          </a:bodyPr>
          <a:lstStyle/>
          <a:p>
            <a:pPr indent="0" lvl="0" marL="0" rtl="0" algn="l">
              <a:lnSpc>
                <a:spcPct val="75000"/>
              </a:lnSpc>
              <a:spcBef>
                <a:spcPts val="0"/>
              </a:spcBef>
              <a:spcAft>
                <a:spcPts val="0"/>
              </a:spcAft>
              <a:buNone/>
            </a:pPr>
            <a:r>
              <a:rPr b="1" lang="en-GB" sz="1800">
                <a:solidFill>
                  <a:schemeClr val="dk1"/>
                </a:solidFill>
              </a:rPr>
              <a:t>Field Devices</a:t>
            </a:r>
            <a:endParaRPr b="1" sz="1800">
              <a:solidFill>
                <a:schemeClr val="dk1"/>
              </a:solidFill>
            </a:endParaRPr>
          </a:p>
          <a:p>
            <a:pPr indent="-342900" lvl="0" marL="457200" rtl="0" algn="l">
              <a:lnSpc>
                <a:spcPct val="115000"/>
              </a:lnSpc>
              <a:spcBef>
                <a:spcPts val="1200"/>
              </a:spcBef>
              <a:spcAft>
                <a:spcPts val="0"/>
              </a:spcAft>
              <a:buClr>
                <a:schemeClr val="dk1"/>
              </a:buClr>
              <a:buSzPts val="1800"/>
              <a:buFont typeface="Arial"/>
              <a:buChar char="●"/>
            </a:pPr>
            <a:r>
              <a:rPr lang="en-GB" sz="1800">
                <a:solidFill>
                  <a:schemeClr val="dk1"/>
                </a:solidFill>
              </a:rPr>
              <a:t>Include sensors, actuators, and transmitters equipped with WirelessHART communication.</a:t>
            </a:r>
            <a:endParaRPr sz="1800">
              <a:solidFill>
                <a:schemeClr val="dk1"/>
              </a:solidFill>
            </a:endParaRPr>
          </a:p>
          <a:p>
            <a:pPr indent="-342900" lvl="0" marL="457200" rtl="0" algn="l">
              <a:lnSpc>
                <a:spcPct val="115000"/>
              </a:lnSpc>
              <a:spcBef>
                <a:spcPts val="0"/>
              </a:spcBef>
              <a:spcAft>
                <a:spcPts val="0"/>
              </a:spcAft>
              <a:buClr>
                <a:schemeClr val="dk1"/>
              </a:buClr>
              <a:buSzPts val="1800"/>
              <a:buFont typeface="Arial"/>
              <a:buChar char="●"/>
            </a:pPr>
            <a:r>
              <a:rPr lang="en-GB" sz="1800">
                <a:solidFill>
                  <a:schemeClr val="dk1"/>
                </a:solidFill>
              </a:rPr>
              <a:t>Collect and transmit real-time data such as temperature, pressure, or flow rate.</a:t>
            </a:r>
            <a:br>
              <a:rPr lang="en-GB" sz="1800">
                <a:solidFill>
                  <a:schemeClr val="dk1"/>
                </a:solidFill>
              </a:rPr>
            </a:br>
            <a:endParaRPr sz="1800">
              <a:solidFill>
                <a:schemeClr val="dk1"/>
              </a:solidFill>
            </a:endParaRPr>
          </a:p>
          <a:p>
            <a:pPr indent="0" lvl="0" marL="0" rtl="0" algn="l">
              <a:lnSpc>
                <a:spcPct val="115000"/>
              </a:lnSpc>
              <a:spcBef>
                <a:spcPts val="1200"/>
              </a:spcBef>
              <a:spcAft>
                <a:spcPts val="0"/>
              </a:spcAft>
              <a:buNone/>
            </a:pPr>
            <a:r>
              <a:rPr b="1" lang="en-GB" sz="1800">
                <a:solidFill>
                  <a:schemeClr val="dk1"/>
                </a:solidFill>
              </a:rPr>
              <a:t>Gateway</a:t>
            </a:r>
            <a:endParaRPr b="1" sz="1800">
              <a:solidFill>
                <a:schemeClr val="dk1"/>
              </a:solidFill>
            </a:endParaRPr>
          </a:p>
          <a:p>
            <a:pPr indent="-342900" lvl="0" marL="457200" rtl="0" algn="l">
              <a:lnSpc>
                <a:spcPct val="115000"/>
              </a:lnSpc>
              <a:spcBef>
                <a:spcPts val="1200"/>
              </a:spcBef>
              <a:spcAft>
                <a:spcPts val="0"/>
              </a:spcAft>
              <a:buClr>
                <a:schemeClr val="dk1"/>
              </a:buClr>
              <a:buSzPts val="1800"/>
              <a:buFont typeface="Arial"/>
              <a:buChar char="●"/>
            </a:pPr>
            <a:r>
              <a:rPr lang="en-GB" sz="1800">
                <a:solidFill>
                  <a:schemeClr val="dk1"/>
                </a:solidFill>
              </a:rPr>
              <a:t>Serves as a </a:t>
            </a:r>
            <a:r>
              <a:rPr b="1" lang="en-GB" sz="1800">
                <a:solidFill>
                  <a:schemeClr val="dk1"/>
                </a:solidFill>
              </a:rPr>
              <a:t>bridge</a:t>
            </a:r>
            <a:r>
              <a:rPr lang="en-GB" sz="1800">
                <a:solidFill>
                  <a:schemeClr val="dk1"/>
                </a:solidFill>
              </a:rPr>
              <a:t> between the WirelessHART network and the plant’s </a:t>
            </a:r>
            <a:r>
              <a:rPr b="1" lang="en-GB" sz="1800">
                <a:solidFill>
                  <a:schemeClr val="dk1"/>
                </a:solidFill>
              </a:rPr>
              <a:t>control system (DCS/PLC/SCADA)</a:t>
            </a:r>
            <a:r>
              <a:rPr lang="en-GB" sz="1800">
                <a:solidFill>
                  <a:schemeClr val="dk1"/>
                </a:solidFill>
              </a:rPr>
              <a:t>.</a:t>
            </a:r>
            <a:endParaRPr sz="1800">
              <a:solidFill>
                <a:schemeClr val="dk1"/>
              </a:solidFill>
            </a:endParaRPr>
          </a:p>
          <a:p>
            <a:pPr indent="-342900" lvl="0" marL="457200" rtl="0" algn="l">
              <a:lnSpc>
                <a:spcPct val="115000"/>
              </a:lnSpc>
              <a:spcBef>
                <a:spcPts val="0"/>
              </a:spcBef>
              <a:spcAft>
                <a:spcPts val="0"/>
              </a:spcAft>
              <a:buClr>
                <a:schemeClr val="dk1"/>
              </a:buClr>
              <a:buSzPts val="1800"/>
              <a:buFont typeface="Arial"/>
              <a:buChar char="●"/>
            </a:pPr>
            <a:r>
              <a:rPr lang="en-GB" sz="1800">
                <a:solidFill>
                  <a:schemeClr val="dk1"/>
                </a:solidFill>
              </a:rPr>
              <a:t>Translates wireless data into standard industrial communication protocols.</a:t>
            </a:r>
            <a:endParaRPr sz="1800">
              <a:solidFill>
                <a:schemeClr val="dk1"/>
              </a:solidFill>
            </a:endParaRPr>
          </a:p>
          <a:p>
            <a:pPr indent="0" lvl="0" marL="0" rtl="0" algn="l">
              <a:lnSpc>
                <a:spcPct val="75000"/>
              </a:lnSpc>
              <a:spcBef>
                <a:spcPts val="1200"/>
              </a:spcBef>
              <a:spcAft>
                <a:spcPts val="1200"/>
              </a:spcAft>
              <a:buSzPts val="688"/>
              <a:buNone/>
            </a:pPr>
            <a:r>
              <a:t/>
            </a:r>
            <a:endParaRPr sz="1477">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1"/>
          <p:cNvSpPr txBox="1"/>
          <p:nvPr>
            <p:ph type="title"/>
          </p:nvPr>
        </p:nvSpPr>
        <p:spPr>
          <a:xfrm>
            <a:off x="311700" y="445025"/>
            <a:ext cx="43881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latin typeface="Arial"/>
                <a:ea typeface="Arial"/>
                <a:cs typeface="Arial"/>
                <a:sym typeface="Arial"/>
              </a:rPr>
              <a:t>Main Components(...)</a:t>
            </a:r>
            <a:br>
              <a:rPr b="1" lang="en-GB"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0" lvl="0" marL="0" rtl="0" algn="l">
              <a:spcBef>
                <a:spcPts val="0"/>
              </a:spcBef>
              <a:spcAft>
                <a:spcPts val="0"/>
              </a:spcAft>
              <a:buNone/>
            </a:pPr>
            <a:r>
              <a:t/>
            </a:r>
            <a:endParaRPr/>
          </a:p>
        </p:txBody>
      </p:sp>
      <p:sp>
        <p:nvSpPr>
          <p:cNvPr id="146" name="Google Shape;146;p21"/>
          <p:cNvSpPr txBox="1"/>
          <p:nvPr/>
        </p:nvSpPr>
        <p:spPr>
          <a:xfrm>
            <a:off x="532850" y="1128750"/>
            <a:ext cx="8436900" cy="356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solidFill>
                  <a:schemeClr val="dk1"/>
                </a:solidFill>
              </a:rPr>
              <a:t>Network Manager</a:t>
            </a:r>
            <a:endParaRPr b="1" sz="1800">
              <a:solidFill>
                <a:schemeClr val="dk1"/>
              </a:solidFill>
            </a:endParaRPr>
          </a:p>
          <a:p>
            <a:pPr indent="-342900" lvl="0" marL="457200" rtl="0" algn="l">
              <a:lnSpc>
                <a:spcPct val="115000"/>
              </a:lnSpc>
              <a:spcBef>
                <a:spcPts val="1200"/>
              </a:spcBef>
              <a:spcAft>
                <a:spcPts val="0"/>
              </a:spcAft>
              <a:buClr>
                <a:schemeClr val="dk1"/>
              </a:buClr>
              <a:buSzPts val="1800"/>
              <a:buChar char="●"/>
            </a:pPr>
            <a:r>
              <a:rPr lang="en-GB" sz="1800">
                <a:solidFill>
                  <a:schemeClr val="dk1"/>
                </a:solidFill>
              </a:rPr>
              <a:t>Controls the </a:t>
            </a:r>
            <a:r>
              <a:rPr b="1" lang="en-GB" sz="1800">
                <a:solidFill>
                  <a:schemeClr val="dk1"/>
                </a:solidFill>
              </a:rPr>
              <a:t>formation and maintenance</a:t>
            </a:r>
            <a:r>
              <a:rPr lang="en-GB" sz="1800">
                <a:solidFill>
                  <a:schemeClr val="dk1"/>
                </a:solidFill>
              </a:rPr>
              <a:t> of the wireless mesh network.</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GB" sz="1800">
                <a:solidFill>
                  <a:schemeClr val="dk1"/>
                </a:solidFill>
              </a:rPr>
              <a:t>Assigns communication paths, manages bandwidth, and ensures data reliability.</a:t>
            </a:r>
            <a:br>
              <a:rPr lang="en-GB" sz="1800">
                <a:solidFill>
                  <a:schemeClr val="dk1"/>
                </a:solidFill>
              </a:rPr>
            </a:br>
            <a:endParaRPr sz="1800">
              <a:solidFill>
                <a:schemeClr val="dk1"/>
              </a:solidFill>
            </a:endParaRPr>
          </a:p>
          <a:p>
            <a:pPr indent="0" lvl="0" marL="0" rtl="0" algn="l">
              <a:lnSpc>
                <a:spcPct val="115000"/>
              </a:lnSpc>
              <a:spcBef>
                <a:spcPts val="1200"/>
              </a:spcBef>
              <a:spcAft>
                <a:spcPts val="0"/>
              </a:spcAft>
              <a:buNone/>
            </a:pPr>
            <a:r>
              <a:rPr b="1" lang="en-GB" sz="1800">
                <a:solidFill>
                  <a:schemeClr val="dk1"/>
                </a:solidFill>
              </a:rPr>
              <a:t>Security Manager</a:t>
            </a:r>
            <a:endParaRPr b="1" sz="1800">
              <a:solidFill>
                <a:schemeClr val="dk1"/>
              </a:solidFill>
            </a:endParaRPr>
          </a:p>
          <a:p>
            <a:pPr indent="-342900" lvl="0" marL="457200" rtl="0" algn="l">
              <a:lnSpc>
                <a:spcPct val="115000"/>
              </a:lnSpc>
              <a:spcBef>
                <a:spcPts val="1200"/>
              </a:spcBef>
              <a:spcAft>
                <a:spcPts val="0"/>
              </a:spcAft>
              <a:buClr>
                <a:schemeClr val="dk1"/>
              </a:buClr>
              <a:buSzPts val="1800"/>
              <a:buChar char="●"/>
            </a:pPr>
            <a:r>
              <a:rPr lang="en-GB" sz="1800">
                <a:solidFill>
                  <a:schemeClr val="dk1"/>
                </a:solidFill>
              </a:rPr>
              <a:t>Maintains encryption keys, ensures authentication, and manages secure data transfer.</a:t>
            </a:r>
            <a:endParaRPr sz="18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2"/>
          <p:cNvSpPr txBox="1"/>
          <p:nvPr>
            <p:ph idx="2" type="title"/>
          </p:nvPr>
        </p:nvSpPr>
        <p:spPr>
          <a:xfrm>
            <a:off x="858875" y="165900"/>
            <a:ext cx="7531200" cy="510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sz="3000"/>
              <a:t>Working Principle</a:t>
            </a:r>
            <a:endParaRPr b="1" sz="1000"/>
          </a:p>
        </p:txBody>
      </p:sp>
      <p:sp>
        <p:nvSpPr>
          <p:cNvPr id="152" name="Google Shape;152;p22"/>
          <p:cNvSpPr txBox="1"/>
          <p:nvPr/>
        </p:nvSpPr>
        <p:spPr>
          <a:xfrm>
            <a:off x="1071000" y="1028700"/>
            <a:ext cx="3384300" cy="363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solidFill>
                  <a:schemeClr val="dk1"/>
                </a:solidFill>
              </a:rPr>
              <a:t>WirelessHART uses a mesh networking approach where each device can communicate with its neighbors.</a:t>
            </a:r>
            <a:endParaRPr sz="1700">
              <a:solidFill>
                <a:schemeClr val="dk1"/>
              </a:solidFill>
            </a:endParaRPr>
          </a:p>
          <a:p>
            <a:pPr indent="0" lvl="0" marL="0" rtl="0" algn="l">
              <a:spcBef>
                <a:spcPts val="0"/>
              </a:spcBef>
              <a:spcAft>
                <a:spcPts val="0"/>
              </a:spcAft>
              <a:buNone/>
            </a:pPr>
            <a:r>
              <a:t/>
            </a:r>
            <a:endParaRPr sz="1700">
              <a:solidFill>
                <a:schemeClr val="dk1"/>
              </a:solidFill>
            </a:endParaRPr>
          </a:p>
          <a:p>
            <a:pPr indent="0" lvl="0" marL="0" rtl="0" algn="l">
              <a:spcBef>
                <a:spcPts val="0"/>
              </a:spcBef>
              <a:spcAft>
                <a:spcPts val="0"/>
              </a:spcAft>
              <a:buNone/>
            </a:pPr>
            <a:r>
              <a:rPr lang="en-GB" sz="1700">
                <a:solidFill>
                  <a:schemeClr val="dk1"/>
                </a:solidFill>
              </a:rPr>
              <a:t>If one path fails, the data automatically reroutes through another device, ensuring continuous connectivity.</a:t>
            </a:r>
            <a:endParaRPr sz="1700">
              <a:solidFill>
                <a:schemeClr val="dk1"/>
              </a:solidFill>
            </a:endParaRPr>
          </a:p>
          <a:p>
            <a:pPr indent="0" lvl="0" marL="0" rtl="0" algn="l">
              <a:spcBef>
                <a:spcPts val="0"/>
              </a:spcBef>
              <a:spcAft>
                <a:spcPts val="0"/>
              </a:spcAft>
              <a:buNone/>
            </a:pPr>
            <a:r>
              <a:rPr lang="en-GB" sz="1700">
                <a:solidFill>
                  <a:schemeClr val="dk1"/>
                </a:solidFill>
              </a:rPr>
              <a:t>The Network Manager schedules communication using </a:t>
            </a:r>
            <a:r>
              <a:rPr b="1" lang="en-GB" sz="1700">
                <a:solidFill>
                  <a:schemeClr val="dk1"/>
                </a:solidFill>
              </a:rPr>
              <a:t>TDMA slots</a:t>
            </a:r>
            <a:r>
              <a:rPr lang="en-GB" sz="1700">
                <a:solidFill>
                  <a:schemeClr val="dk1"/>
                </a:solidFill>
              </a:rPr>
              <a:t>, reducing collisions and improving energy efficiency.</a:t>
            </a:r>
            <a:endParaRPr sz="2000">
              <a:solidFill>
                <a:schemeClr val="dk1"/>
              </a:solidFill>
            </a:endParaRPr>
          </a:p>
        </p:txBody>
      </p:sp>
      <p:pic>
        <p:nvPicPr>
          <p:cNvPr id="153" name="Google Shape;153;p22"/>
          <p:cNvPicPr preferRelativeResize="0"/>
          <p:nvPr/>
        </p:nvPicPr>
        <p:blipFill>
          <a:blip r:embed="rId3">
            <a:alphaModFix/>
          </a:blip>
          <a:stretch>
            <a:fillRect/>
          </a:stretch>
        </p:blipFill>
        <p:spPr>
          <a:xfrm>
            <a:off x="5121300" y="942350"/>
            <a:ext cx="3688400" cy="34906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3"/>
          <p:cNvSpPr txBox="1"/>
          <p:nvPr>
            <p:ph type="title"/>
          </p:nvPr>
        </p:nvSpPr>
        <p:spPr>
          <a:xfrm>
            <a:off x="582075" y="2129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sz="3000"/>
              <a:t>Applications</a:t>
            </a:r>
            <a:endParaRPr b="1"/>
          </a:p>
          <a:p>
            <a:pPr indent="0" lvl="0" marL="0" rtl="0" algn="l">
              <a:spcBef>
                <a:spcPts val="0"/>
              </a:spcBef>
              <a:spcAft>
                <a:spcPts val="0"/>
              </a:spcAft>
              <a:buNone/>
            </a:pPr>
            <a:r>
              <a:t/>
            </a:r>
            <a:endParaRPr/>
          </a:p>
        </p:txBody>
      </p:sp>
      <p:sp>
        <p:nvSpPr>
          <p:cNvPr id="159" name="Google Shape;159;p23"/>
          <p:cNvSpPr txBox="1"/>
          <p:nvPr/>
        </p:nvSpPr>
        <p:spPr>
          <a:xfrm>
            <a:off x="1161825" y="942050"/>
            <a:ext cx="7038900" cy="376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solidFill>
                  <a:schemeClr val="dk1"/>
                </a:solidFill>
              </a:rPr>
              <a:t>Oil &amp; Gas:</a:t>
            </a:r>
            <a:r>
              <a:rPr lang="en-GB" sz="1800">
                <a:solidFill>
                  <a:schemeClr val="dk1"/>
                </a:solidFill>
              </a:rPr>
              <a:t> Pipeline monitoring, leak detection, and asset tracking</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b="1" lang="en-GB" sz="1800">
                <a:solidFill>
                  <a:schemeClr val="dk1"/>
                </a:solidFill>
              </a:rPr>
              <a:t>Chemical Industry:</a:t>
            </a:r>
            <a:r>
              <a:rPr lang="en-GB" sz="1800">
                <a:solidFill>
                  <a:schemeClr val="dk1"/>
                </a:solidFill>
              </a:rPr>
              <a:t> Process parameter monitoring (temperature, pressure, pH)</a:t>
            </a:r>
            <a:br>
              <a:rPr lang="en-GB" sz="1800">
                <a:solidFill>
                  <a:schemeClr val="dk1"/>
                </a:solidFill>
              </a:rPr>
            </a:br>
            <a:endParaRPr sz="1800">
              <a:solidFill>
                <a:schemeClr val="dk1"/>
              </a:solidFill>
            </a:endParaRPr>
          </a:p>
          <a:p>
            <a:pPr indent="0" lvl="0" marL="0" rtl="0" algn="l">
              <a:spcBef>
                <a:spcPts val="0"/>
              </a:spcBef>
              <a:spcAft>
                <a:spcPts val="0"/>
              </a:spcAft>
              <a:buNone/>
            </a:pPr>
            <a:r>
              <a:rPr b="1" lang="en-GB" sz="1800">
                <a:solidFill>
                  <a:schemeClr val="dk1"/>
                </a:solidFill>
              </a:rPr>
              <a:t>Power Plants:</a:t>
            </a:r>
            <a:r>
              <a:rPr lang="en-GB" sz="1800">
                <a:solidFill>
                  <a:schemeClr val="dk1"/>
                </a:solidFill>
              </a:rPr>
              <a:t> Equipment health monitoring and predictive maintenance</a:t>
            </a:r>
            <a:br>
              <a:rPr lang="en-GB" sz="1800">
                <a:solidFill>
                  <a:schemeClr val="dk1"/>
                </a:solidFill>
              </a:rPr>
            </a:br>
            <a:endParaRPr sz="1800">
              <a:solidFill>
                <a:schemeClr val="dk1"/>
              </a:solidFill>
            </a:endParaRPr>
          </a:p>
          <a:p>
            <a:pPr indent="0" lvl="0" marL="0" rtl="0" algn="l">
              <a:spcBef>
                <a:spcPts val="0"/>
              </a:spcBef>
              <a:spcAft>
                <a:spcPts val="0"/>
              </a:spcAft>
              <a:buNone/>
            </a:pPr>
            <a:r>
              <a:rPr b="1" lang="en-GB" sz="1800">
                <a:solidFill>
                  <a:schemeClr val="dk1"/>
                </a:solidFill>
              </a:rPr>
              <a:t>Water &amp; Wastewater:</a:t>
            </a:r>
            <a:r>
              <a:rPr lang="en-GB" sz="1800">
                <a:solidFill>
                  <a:schemeClr val="dk1"/>
                </a:solidFill>
              </a:rPr>
              <a:t> Flow and level measurement in remote locations</a:t>
            </a:r>
            <a:br>
              <a:rPr lang="en-GB" sz="1800">
                <a:solidFill>
                  <a:schemeClr val="dk1"/>
                </a:solidFill>
              </a:rPr>
            </a:br>
            <a:endParaRPr sz="1800">
              <a:solidFill>
                <a:schemeClr val="dk1"/>
              </a:solidFill>
            </a:endParaRPr>
          </a:p>
          <a:p>
            <a:pPr indent="0" lvl="0" marL="0" rtl="0" algn="l">
              <a:spcBef>
                <a:spcPts val="0"/>
              </a:spcBef>
              <a:spcAft>
                <a:spcPts val="0"/>
              </a:spcAft>
              <a:buNone/>
            </a:pPr>
            <a:r>
              <a:rPr b="1" lang="en-GB" sz="1800">
                <a:solidFill>
                  <a:schemeClr val="dk1"/>
                </a:solidFill>
              </a:rPr>
              <a:t>Manufacturing:</a:t>
            </a:r>
            <a:r>
              <a:rPr lang="en-GB" sz="1800">
                <a:solidFill>
                  <a:schemeClr val="dk1"/>
                </a:solidFill>
              </a:rPr>
              <a:t> Machine condition monitoring and energy optimization</a:t>
            </a:r>
            <a:endParaRPr sz="1800">
              <a:solidFill>
                <a:schemeClr val="dk1"/>
              </a:solidFill>
            </a:endParaRPr>
          </a:p>
          <a:p>
            <a:pPr indent="0" lvl="0" marL="0" rtl="0" algn="l">
              <a:spcBef>
                <a:spcPts val="0"/>
              </a:spcBef>
              <a:spcAft>
                <a:spcPts val="0"/>
              </a:spcAft>
              <a:buNone/>
            </a:pPr>
            <a:r>
              <a:t/>
            </a:r>
            <a:endParaRPr sz="1800">
              <a:solidFill>
                <a:schemeClr val="accent3"/>
              </a:solidFill>
              <a:latin typeface="Average"/>
              <a:ea typeface="Average"/>
              <a:cs typeface="Average"/>
              <a:sym typeface="Average"/>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4"/>
          <p:cNvSpPr txBox="1"/>
          <p:nvPr>
            <p:ph type="title"/>
          </p:nvPr>
        </p:nvSpPr>
        <p:spPr>
          <a:xfrm>
            <a:off x="422700" y="2723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sz="3000"/>
              <a:t>Advantages</a:t>
            </a:r>
            <a:endParaRPr b="1"/>
          </a:p>
        </p:txBody>
      </p:sp>
      <p:sp>
        <p:nvSpPr>
          <p:cNvPr id="165" name="Google Shape;165;p24"/>
          <p:cNvSpPr txBox="1"/>
          <p:nvPr/>
        </p:nvSpPr>
        <p:spPr>
          <a:xfrm>
            <a:off x="714750" y="1004025"/>
            <a:ext cx="7714500" cy="363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solidFill>
                  <a:schemeClr val="dk1"/>
                </a:solidFill>
              </a:rPr>
              <a:t>Reduced Installation Cost:</a:t>
            </a:r>
            <a:r>
              <a:rPr lang="en-GB" sz="1800">
                <a:solidFill>
                  <a:schemeClr val="dk1"/>
                </a:solidFill>
              </a:rPr>
              <a:t> Eliminates the need for long and expensive wiring</a:t>
            </a:r>
            <a:br>
              <a:rPr lang="en-GB" sz="1800">
                <a:solidFill>
                  <a:schemeClr val="dk1"/>
                </a:solidFill>
              </a:rPr>
            </a:br>
            <a:endParaRPr sz="1800">
              <a:solidFill>
                <a:schemeClr val="dk1"/>
              </a:solidFill>
            </a:endParaRPr>
          </a:p>
          <a:p>
            <a:pPr indent="0" lvl="0" marL="0" rtl="0" algn="l">
              <a:spcBef>
                <a:spcPts val="0"/>
              </a:spcBef>
              <a:spcAft>
                <a:spcPts val="0"/>
              </a:spcAft>
              <a:buNone/>
            </a:pPr>
            <a:r>
              <a:rPr b="1" lang="en-GB" sz="1800">
                <a:solidFill>
                  <a:schemeClr val="dk1"/>
                </a:solidFill>
              </a:rPr>
              <a:t>High Reliability:</a:t>
            </a:r>
            <a:r>
              <a:rPr lang="en-GB" sz="1800">
                <a:solidFill>
                  <a:schemeClr val="dk1"/>
                </a:solidFill>
              </a:rPr>
              <a:t> Mesh topology ensures multiple communication paths</a:t>
            </a:r>
            <a:br>
              <a:rPr lang="en-GB" sz="1800">
                <a:solidFill>
                  <a:schemeClr val="dk1"/>
                </a:solidFill>
              </a:rPr>
            </a:br>
            <a:endParaRPr sz="1800">
              <a:solidFill>
                <a:schemeClr val="dk1"/>
              </a:solidFill>
            </a:endParaRPr>
          </a:p>
          <a:p>
            <a:pPr indent="0" lvl="0" marL="0" rtl="0" algn="l">
              <a:spcBef>
                <a:spcPts val="0"/>
              </a:spcBef>
              <a:spcAft>
                <a:spcPts val="0"/>
              </a:spcAft>
              <a:buNone/>
            </a:pPr>
            <a:r>
              <a:rPr b="1" lang="en-GB" sz="1800">
                <a:solidFill>
                  <a:schemeClr val="dk1"/>
                </a:solidFill>
              </a:rPr>
              <a:t>Enhanced Security:</a:t>
            </a:r>
            <a:r>
              <a:rPr lang="en-GB" sz="1800">
                <a:solidFill>
                  <a:schemeClr val="dk1"/>
                </a:solidFill>
              </a:rPr>
              <a:t> 128-bit AES encryption and device authentication</a:t>
            </a:r>
            <a:endParaRPr sz="1800">
              <a:solidFill>
                <a:schemeClr val="dk1"/>
              </a:solidFill>
            </a:endParaRPr>
          </a:p>
          <a:p>
            <a:pPr indent="0" lvl="0" marL="0" rtl="0" algn="l">
              <a:spcBef>
                <a:spcPts val="0"/>
              </a:spcBef>
              <a:spcAft>
                <a:spcPts val="0"/>
              </a:spcAft>
              <a:buNone/>
            </a:pPr>
            <a:br>
              <a:rPr lang="en-GB" sz="1800">
                <a:solidFill>
                  <a:schemeClr val="dk1"/>
                </a:solidFill>
              </a:rPr>
            </a:br>
            <a:r>
              <a:rPr b="1" lang="en-GB" sz="1800">
                <a:solidFill>
                  <a:schemeClr val="dk1"/>
                </a:solidFill>
              </a:rPr>
              <a:t>Low Power Consumption:</a:t>
            </a:r>
            <a:r>
              <a:rPr lang="en-GB" sz="1800">
                <a:solidFill>
                  <a:schemeClr val="dk1"/>
                </a:solidFill>
              </a:rPr>
              <a:t> Suitable for battery-operated field devices</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b="1" lang="en-GB" sz="1800">
                <a:solidFill>
                  <a:schemeClr val="dk1"/>
                </a:solidFill>
              </a:rPr>
              <a:t>Scalability:</a:t>
            </a:r>
            <a:r>
              <a:rPr lang="en-GB" sz="1800">
                <a:solidFill>
                  <a:schemeClr val="dk1"/>
                </a:solidFill>
              </a:rPr>
              <a:t> Supports addition of new devices without major reconfiguration</a:t>
            </a:r>
            <a:br>
              <a:rPr lang="en-GB" sz="1800">
                <a:solidFill>
                  <a:schemeClr val="dk1"/>
                </a:solidFill>
              </a:rPr>
            </a:br>
            <a:endParaRPr sz="1800">
              <a:solidFill>
                <a:schemeClr val="dk1"/>
              </a:solidFill>
            </a:endParaRPr>
          </a:p>
          <a:p>
            <a:pPr indent="0" lvl="0" marL="0" rtl="0" algn="l">
              <a:spcBef>
                <a:spcPts val="0"/>
              </a:spcBef>
              <a:spcAft>
                <a:spcPts val="0"/>
              </a:spcAft>
              <a:buNone/>
            </a:pPr>
            <a:r>
              <a:rPr b="1" lang="en-GB" sz="1800">
                <a:solidFill>
                  <a:schemeClr val="dk1"/>
                </a:solidFill>
              </a:rPr>
              <a:t>Real-time Monitoring:</a:t>
            </a:r>
            <a:r>
              <a:rPr lang="en-GB" sz="1800">
                <a:solidFill>
                  <a:schemeClr val="dk1"/>
                </a:solidFill>
              </a:rPr>
              <a:t> Enables continuous data collection and system visibility</a:t>
            </a:r>
            <a:endParaRPr sz="1800">
              <a:solidFill>
                <a:schemeClr val="dk1"/>
              </a:solidFill>
            </a:endParaRPr>
          </a:p>
          <a:p>
            <a:pPr indent="0" lvl="0" marL="0" rtl="0" algn="l">
              <a:spcBef>
                <a:spcPts val="0"/>
              </a:spcBef>
              <a:spcAft>
                <a:spcPts val="0"/>
              </a:spcAft>
              <a:buNone/>
            </a:pPr>
            <a:r>
              <a:t/>
            </a:r>
            <a:endParaRPr sz="1800">
              <a:solidFill>
                <a:schemeClr val="accent3"/>
              </a:solidFill>
              <a:latin typeface="Average"/>
              <a:ea typeface="Average"/>
              <a:cs typeface="Average"/>
              <a:sym typeface="Average"/>
            </a:endParaRPr>
          </a:p>
          <a:p>
            <a:pPr indent="0" lvl="0" marL="0" rtl="0" algn="l">
              <a:spcBef>
                <a:spcPts val="0"/>
              </a:spcBef>
              <a:spcAft>
                <a:spcPts val="0"/>
              </a:spcAft>
              <a:buNone/>
            </a:pPr>
            <a:r>
              <a:t/>
            </a:r>
            <a:endParaRPr sz="1800">
              <a:solidFill>
                <a:schemeClr val="accent3"/>
              </a:solidFill>
              <a:latin typeface="Average"/>
              <a:ea typeface="Average"/>
              <a:cs typeface="Average"/>
              <a:sym typeface="Average"/>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5"/>
          <p:cNvSpPr txBox="1"/>
          <p:nvPr>
            <p:ph type="title"/>
          </p:nvPr>
        </p:nvSpPr>
        <p:spPr>
          <a:xfrm>
            <a:off x="-92200" y="180975"/>
            <a:ext cx="3403800" cy="7245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b="1" lang="en-GB"/>
              <a:t>Limitations</a:t>
            </a:r>
            <a:endParaRPr b="1" sz="1000"/>
          </a:p>
        </p:txBody>
      </p:sp>
      <p:sp>
        <p:nvSpPr>
          <p:cNvPr id="171" name="Google Shape;171;p25"/>
          <p:cNvSpPr txBox="1"/>
          <p:nvPr>
            <p:ph idx="1" type="subTitle"/>
          </p:nvPr>
        </p:nvSpPr>
        <p:spPr>
          <a:xfrm>
            <a:off x="265500" y="1028700"/>
            <a:ext cx="4306500" cy="3162000"/>
          </a:xfrm>
          <a:prstGeom prst="rect">
            <a:avLst/>
          </a:prstGeom>
        </p:spPr>
        <p:txBody>
          <a:bodyPr anchorCtr="0" anchor="t" bIns="91425" lIns="91425" spcFirstLastPara="1" rIns="91425" wrap="square" tIns="91425">
            <a:noAutofit/>
          </a:bodyPr>
          <a:lstStyle/>
          <a:p>
            <a:pPr indent="-335413" lvl="0" marL="457200" rtl="0" algn="l">
              <a:lnSpc>
                <a:spcPct val="95000"/>
              </a:lnSpc>
              <a:spcBef>
                <a:spcPts val="1200"/>
              </a:spcBef>
              <a:spcAft>
                <a:spcPts val="0"/>
              </a:spcAft>
              <a:buSzPts val="1682"/>
              <a:buFont typeface="Arial"/>
              <a:buChar char="●"/>
            </a:pPr>
            <a:r>
              <a:rPr lang="en-GB" sz="2207"/>
              <a:t>Limited data bandwidth for high-speed applications</a:t>
            </a:r>
            <a:br>
              <a:rPr lang="en-GB" sz="2207"/>
            </a:br>
            <a:endParaRPr sz="2207"/>
          </a:p>
          <a:p>
            <a:pPr indent="-335413" lvl="0" marL="457200" rtl="0" algn="l">
              <a:lnSpc>
                <a:spcPct val="95000"/>
              </a:lnSpc>
              <a:spcBef>
                <a:spcPts val="0"/>
              </a:spcBef>
              <a:spcAft>
                <a:spcPts val="0"/>
              </a:spcAft>
              <a:buSzPts val="1682"/>
              <a:buFont typeface="Arial"/>
              <a:buChar char="●"/>
            </a:pPr>
            <a:r>
              <a:rPr lang="en-GB" sz="2207"/>
              <a:t>Possible signal interference in dense industrial environments</a:t>
            </a:r>
            <a:br>
              <a:rPr lang="en-GB" sz="2207"/>
            </a:br>
            <a:endParaRPr sz="2207"/>
          </a:p>
          <a:p>
            <a:pPr indent="-335756" lvl="0" marL="457200" rtl="0" algn="l">
              <a:lnSpc>
                <a:spcPct val="95000"/>
              </a:lnSpc>
              <a:spcBef>
                <a:spcPts val="0"/>
              </a:spcBef>
              <a:spcAft>
                <a:spcPts val="0"/>
              </a:spcAft>
              <a:buSzPts val="1688"/>
              <a:buFont typeface="Arial"/>
              <a:buChar char="●"/>
            </a:pPr>
            <a:r>
              <a:rPr lang="en-GB" sz="2207"/>
              <a:t>Shorter communication range in metal-rich or obstructed areas</a:t>
            </a:r>
            <a:br>
              <a:rPr lang="en-GB" sz="1412"/>
            </a:br>
            <a:endParaRPr sz="1412"/>
          </a:p>
          <a:p>
            <a:pPr indent="0" lvl="0" marL="0" rtl="0" algn="l">
              <a:lnSpc>
                <a:spcPct val="80000"/>
              </a:lnSpc>
              <a:spcBef>
                <a:spcPts val="1200"/>
              </a:spcBef>
              <a:spcAft>
                <a:spcPts val="0"/>
              </a:spcAft>
              <a:buSzPts val="688"/>
              <a:buNone/>
            </a:pPr>
            <a:r>
              <a:t/>
            </a:r>
            <a:endParaRPr sz="1412"/>
          </a:p>
        </p:txBody>
      </p:sp>
      <p:sp>
        <p:nvSpPr>
          <p:cNvPr id="172" name="Google Shape;172;p25"/>
          <p:cNvSpPr txBox="1"/>
          <p:nvPr/>
        </p:nvSpPr>
        <p:spPr>
          <a:xfrm>
            <a:off x="4695450" y="131625"/>
            <a:ext cx="3959400" cy="72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3800">
                <a:solidFill>
                  <a:schemeClr val="lt1"/>
                </a:solidFill>
                <a:latin typeface="Average"/>
                <a:ea typeface="Average"/>
                <a:cs typeface="Average"/>
                <a:sym typeface="Average"/>
              </a:rPr>
              <a:t>Future Scope</a:t>
            </a:r>
            <a:endParaRPr b="1" sz="3800">
              <a:solidFill>
                <a:schemeClr val="lt1"/>
              </a:solidFill>
              <a:latin typeface="Average"/>
              <a:ea typeface="Average"/>
              <a:cs typeface="Average"/>
              <a:sym typeface="Average"/>
            </a:endParaRPr>
          </a:p>
        </p:txBody>
      </p:sp>
      <p:sp>
        <p:nvSpPr>
          <p:cNvPr id="173" name="Google Shape;173;p25"/>
          <p:cNvSpPr txBox="1"/>
          <p:nvPr/>
        </p:nvSpPr>
        <p:spPr>
          <a:xfrm>
            <a:off x="5089950" y="1115050"/>
            <a:ext cx="3564900" cy="377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t>Integration with </a:t>
            </a:r>
            <a:r>
              <a:rPr b="1" lang="en-GB" sz="1700"/>
              <a:t>Industrial Internet of Things (IIoT)</a:t>
            </a:r>
            <a:r>
              <a:rPr lang="en-GB" sz="1700"/>
              <a:t> and </a:t>
            </a:r>
            <a:r>
              <a:rPr b="1" lang="en-GB" sz="1700"/>
              <a:t>5G networks</a:t>
            </a:r>
            <a:br>
              <a:rPr b="1" lang="en-GB" sz="1700"/>
            </a:br>
            <a:endParaRPr b="1" sz="1700"/>
          </a:p>
          <a:p>
            <a:pPr indent="0" lvl="0" marL="0" rtl="0" algn="l">
              <a:spcBef>
                <a:spcPts val="0"/>
              </a:spcBef>
              <a:spcAft>
                <a:spcPts val="0"/>
              </a:spcAft>
              <a:buNone/>
            </a:pPr>
            <a:r>
              <a:rPr lang="en-GB" sz="1700"/>
              <a:t>Use of </a:t>
            </a:r>
            <a:r>
              <a:rPr b="1" lang="en-GB" sz="1700"/>
              <a:t>AI and machine learning</a:t>
            </a:r>
            <a:r>
              <a:rPr lang="en-GB" sz="1700"/>
              <a:t> for predictive maintenance</a:t>
            </a:r>
            <a:br>
              <a:rPr lang="en-GB" sz="1700"/>
            </a:br>
            <a:endParaRPr sz="1700"/>
          </a:p>
          <a:p>
            <a:pPr indent="0" lvl="0" marL="0" rtl="0" algn="l">
              <a:spcBef>
                <a:spcPts val="0"/>
              </a:spcBef>
              <a:spcAft>
                <a:spcPts val="0"/>
              </a:spcAft>
              <a:buNone/>
            </a:pPr>
            <a:r>
              <a:rPr lang="en-GB" sz="1700"/>
              <a:t>Development of </a:t>
            </a:r>
            <a:r>
              <a:rPr b="1" lang="en-GB" sz="1700"/>
              <a:t>energy-harvesting devices</a:t>
            </a:r>
            <a:r>
              <a:rPr lang="en-GB" sz="1700"/>
              <a:t> for long-term operation</a:t>
            </a:r>
            <a:br>
              <a:rPr lang="en-GB" sz="1700"/>
            </a:br>
            <a:endParaRPr sz="1700"/>
          </a:p>
          <a:p>
            <a:pPr indent="0" lvl="0" marL="0" rtl="0" algn="l">
              <a:spcBef>
                <a:spcPts val="0"/>
              </a:spcBef>
              <a:spcAft>
                <a:spcPts val="0"/>
              </a:spcAft>
              <a:buNone/>
            </a:pPr>
            <a:r>
              <a:rPr lang="en-GB" sz="1700"/>
              <a:t>Enhanced </a:t>
            </a:r>
            <a:r>
              <a:rPr b="1" lang="en-GB" sz="1700"/>
              <a:t>interoperability</a:t>
            </a:r>
            <a:r>
              <a:rPr lang="en-GB" sz="1700"/>
              <a:t> with other wireless standards</a:t>
            </a:r>
            <a:endParaRPr sz="1700"/>
          </a:p>
          <a:p>
            <a:pPr indent="0" lvl="0" marL="0" rtl="0" algn="l">
              <a:spcBef>
                <a:spcPts val="0"/>
              </a:spcBef>
              <a:spcAft>
                <a:spcPts val="0"/>
              </a:spcAft>
              <a:buNone/>
            </a:pPr>
            <a:r>
              <a:t/>
            </a:r>
            <a:endParaRPr sz="1100"/>
          </a:p>
          <a:p>
            <a:pPr indent="0" lvl="0" marL="0" rtl="0" algn="l">
              <a:spcBef>
                <a:spcPts val="0"/>
              </a:spcBef>
              <a:spcAft>
                <a:spcPts val="0"/>
              </a:spcAft>
              <a:buNone/>
            </a:pPr>
            <a:r>
              <a:t/>
            </a:r>
            <a:endParaRPr sz="19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6"/>
          <p:cNvSpPr txBox="1"/>
          <p:nvPr>
            <p:ph type="title"/>
          </p:nvPr>
        </p:nvSpPr>
        <p:spPr>
          <a:xfrm>
            <a:off x="3601500" y="1497400"/>
            <a:ext cx="6807300" cy="1116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sz="3500"/>
              <a:t>Thank you!</a:t>
            </a:r>
            <a:endParaRPr sz="3500"/>
          </a:p>
        </p:txBody>
      </p:sp>
      <p:sp>
        <p:nvSpPr>
          <p:cNvPr id="179" name="Google Shape;179;p26"/>
          <p:cNvSpPr/>
          <p:nvPr/>
        </p:nvSpPr>
        <p:spPr>
          <a:xfrm flipH="1">
            <a:off x="6762011" y="2613990"/>
            <a:ext cx="1024200" cy="1333200"/>
          </a:xfrm>
          <a:prstGeom prst="rtTriangle">
            <a:avLst/>
          </a:prstGeom>
          <a:solidFill>
            <a:srgbClr val="000000">
              <a:alpha val="4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